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Nescafé — Brand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D6C8"/>
                </a:solidFill>
              </a:rPr>
              <a:t>A compiled reference document based on publicly stated brand positioning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96"/>
                </a:solidFill>
              </a:rPr>
              <a:t>Not an official or internal Nescafé/Nestlé publication  ·  Compiled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Brand Stands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Nescafé was born from a practical problem: in the early 1930s, Nestlé was asked to help use Brazil's coffee surplus. Chemist Max Morgenthaler developed soluble coffee that kept its natural flavour, and Nescafé launched in Switzerland in 1938 — growing into the world's best-known instant coffee brand.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Today's positioning centers less on the coffee itself and more on what it enables: the everyday moment that precedes something bigger — a conversation, a piece of work, a fresh start.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Aspirations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Remain the world's most consumed coffee brand — the everyday, accessible choice rather than premium or specialty.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Lead on responsible coffee sourcing via the NESCAFÉ Plan — farmer training, disease-resistant plants, sustainable practices.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Be present at every coffee moment — instant, premium soluble (Gold), capsules (Dolce Gusto), ready-to-drink.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Stay relevant across very different markets — from specialty-coffee-shop competition in the West to first-coffee-brand status in emerging markets.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Claims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Consistent taste and quality, cup after cup.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Convenience — a quality cup of coffee in seconds, no equipment required.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Accessibility and value — everyday, widely available, not a premium/occasional purchase.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</a:rPr>
              <a:t>Responsible sourcing — referencing the NESCAFÉ Plan's farmer-support commitments.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</a:rPr>
              <a:t>Brand-level positioning themes from public sources — not verified legal/regulatory claims. Market- and product-line-specific claims require individual sourcing for compliance-sensitive use.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Personality &amp; Tone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EFE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2148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&amp; Everyday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Ordinary, relatable moments — not aspirational luxury coffee culture.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EFE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2148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Optimistic &amp; Human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17720" y="29718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Stories of connection, second chances, small beginnings leading somewhere bigger.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EFE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21040" y="2148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21040" y="29718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One global visual and verbal identity, recognisable everywhere it's sold.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Line &amp; Portfolio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</a:rPr>
              <a:t>Nescafé spans sub-brands and formats built for different occasions and price points.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3B1F0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D6C8"/>
                </a:solidFill>
              </a:rPr>
              <a:t>Core instant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62072" y="246888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3B1F0F"/>
          </a:solidFill>
          <a:ln/>
        </p:spPr>
      </p:sp>
      <p:sp>
        <p:nvSpPr>
          <p:cNvPr id="8" name="Text 6"/>
          <p:cNvSpPr/>
          <p:nvPr/>
        </p:nvSpPr>
        <p:spPr>
          <a:xfrm>
            <a:off x="2999232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99232" y="3657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D6C8"/>
                </a:solidFill>
              </a:rPr>
              <a:t>Premium soluble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84064" y="246888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3B1F0F"/>
          </a:solidFill>
          <a:ln/>
        </p:spPr>
      </p:sp>
      <p:sp>
        <p:nvSpPr>
          <p:cNvPr id="11" name="Text 9"/>
          <p:cNvSpPr/>
          <p:nvPr/>
        </p:nvSpPr>
        <p:spPr>
          <a:xfrm>
            <a:off x="5221224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Dolce Gusto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21224" y="3657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D6C8"/>
                </a:solidFill>
              </a:rPr>
              <a:t>Capsule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06056" y="246888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3B1F0F"/>
          </a:solidFill>
          <a:ln/>
        </p:spPr>
      </p:sp>
      <p:sp>
        <p:nvSpPr>
          <p:cNvPr id="14" name="Text 12"/>
          <p:cNvSpPr/>
          <p:nvPr/>
        </p:nvSpPr>
        <p:spPr>
          <a:xfrm>
            <a:off x="7443216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Azera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43216" y="3657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D6C8"/>
                </a:solidFill>
              </a:rPr>
              <a:t>Barista-style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28048" y="246888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3B1F0F"/>
          </a:solidFill>
          <a:ln/>
        </p:spPr>
      </p:sp>
      <p:sp>
        <p:nvSpPr>
          <p:cNvPr id="17" name="Text 15"/>
          <p:cNvSpPr/>
          <p:nvPr/>
        </p:nvSpPr>
        <p:spPr>
          <a:xfrm>
            <a:off x="9665208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3-in-1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65208" y="3657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D6C8"/>
                </a:solidFill>
              </a:rPr>
              <a:t>Coffee mix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</a:rPr>
              <a:t>Range lets the brand compete against mass-market instant, at-home capsule systems, and grab-and-go beverages at once.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&amp; Competitive Considerations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The rise of specialty and premium coffee culture (Starbucks, Costa, independent roasters) has pushed consumer perception toward valuing origin, roast, and barista craft — territory instant coffee has traditionally competed with on convenience and price instead.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Nescafé's response includes premiumising parts of its range (Gold, Azera, Dolce Gusto) and leaning on its sustainability story (the NESCAFÉ Plan) as a differentiator — though, as with the wider Nestlé portfolio, sourcing and sustainability claims in the coffee category draw ongoing external scrutiny.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1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Note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A"/>
                </a:solidFill>
              </a:rPr>
              <a:t>Compiled from Nescafé's and Nestlé's public-facing statements, campaign history, and third-party brand analysis as of August 2026.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A"/>
                </a:solidFill>
              </a:rPr>
              <a:t>This document is a reference/analysis aid — for external-facing, legal, or regulatory use, verify current claims against Nestlé's official investor relations and Nescafé brand materials directly.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2026-08-24T08:45:44Z</dcterms:created>
  <dcterms:modified xsi:type="dcterms:W3CDTF">2026-08-24T08:45:44Z</dcterms:modified>
</cp:coreProperties>
</file>